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749808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042416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335024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9985248" y="457200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9985248" y="749808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9985248" y="1042416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Shape 7"/>
          <p:cNvSpPr/>
          <p:nvPr/>
        </p:nvSpPr>
        <p:spPr>
          <a:xfrm>
            <a:off x="9985248" y="1335024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Shape 8"/>
          <p:cNvSpPr/>
          <p:nvPr/>
        </p:nvSpPr>
        <p:spPr>
          <a:xfrm>
            <a:off x="10277856" y="457200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Shape 9"/>
          <p:cNvSpPr/>
          <p:nvPr/>
        </p:nvSpPr>
        <p:spPr>
          <a:xfrm>
            <a:off x="10277856" y="749808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77856" y="1042416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77856" y="1335024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70464" y="457200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749808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70464" y="1042416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70464" y="1335024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63072" y="457200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63072" y="749808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63072" y="1042416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Shape 19"/>
          <p:cNvSpPr/>
          <p:nvPr/>
        </p:nvSpPr>
        <p:spPr>
          <a:xfrm>
            <a:off x="10863072" y="1335024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Shape 20"/>
          <p:cNvSpPr/>
          <p:nvPr/>
        </p:nvSpPr>
        <p:spPr>
          <a:xfrm>
            <a:off x="11155680" y="457200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55680" y="749808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55680" y="1042416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55680" y="1335024"/>
            <a:ext cx="45720" cy="457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FRAUD DETECTION &amp; FINANCIAL CRIME PREVENTION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16002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MuleNet AI</a:t>
            </a:r>
            <a:endParaRPr lang="en-US" sz="6400" dirty="0"/>
          </a:p>
        </p:txBody>
      </p:sp>
      <p:sp>
        <p:nvSpPr>
          <p:cNvPr id="28" name="Text 26"/>
          <p:cNvSpPr/>
          <p:nvPr/>
        </p:nvSpPr>
        <p:spPr>
          <a:xfrm>
            <a:off x="640080" y="2743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mule-account fraud across patterns, not just single transactions.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40080" y="3429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A1A1D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520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D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93.4%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40080" y="3977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88920" y="3429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A1A1D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88920" y="3520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D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95.8%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2788920" y="3977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37760" y="3429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A1A1D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520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D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937760" y="3977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086600" y="3429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A1A1D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3520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D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0.988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086600" y="3977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470916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A1A1D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481888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Bit Brains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Security Track · Finale Submission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4008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9,082 accounts  ·  81 confirmed mule accounts identified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03920" y="6172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9A9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$ BANK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6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that only becomes visible once you connect the dots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UPI network processed a record </a:t>
            </a:r>
            <a:pPr indent="0" marL="0">
              <a:buNone/>
            </a:pPr>
            <a:r>
              <a:rPr lang="en-US" sz="13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23.66 billion transactions in a single month in 2026</a:t>
            </a:r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one of those rails is a potential mule-layering hop.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42900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651760"/>
            <a:ext cx="594360" cy="594360"/>
          </a:xfrm>
          <a:prstGeom prst="ellipse">
            <a:avLst/>
          </a:prstGeom>
          <a:solidFill>
            <a:srgbClr val="0B0B0D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 looks clean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0233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transfer of ₹5,000 raises no flag on its own — that's precisely the point.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342900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651760"/>
            <a:ext cx="594360" cy="594360"/>
          </a:xfrm>
          <a:prstGeom prst="ellipse">
            <a:avLst/>
          </a:prstGeom>
          <a:solidFill>
            <a:srgbClr val="0B0B0D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many accounts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40233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networks layer money through dozens of small, unrelated-looking accounts and hops.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331720"/>
            <a:ext cx="342900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2651760"/>
            <a:ext cx="594360" cy="594360"/>
          </a:xfrm>
          <a:prstGeom prst="ellipse">
            <a:avLst/>
          </a:prstGeom>
          <a:solidFill>
            <a:srgbClr val="0B0B0D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6676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manual review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40233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trace these networks manually, long after the money has already moved 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Fraud Detection &amp; Financial Crime Prevention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TRACK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MuleNet AI directly targets PS-5, and extends into PS-4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6675120" cy="3794760"/>
          </a:xfrm>
          <a:prstGeom prst="roundRect">
            <a:avLst>
              <a:gd name="adj" fmla="val 2410"/>
            </a:avLst>
          </a:prstGeom>
          <a:solidFill>
            <a:srgbClr val="1A1A1D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PS-5 · Tracing Financial Crime Across Patterns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6126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1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damaging fraud rarely shows up in one transaction — it's deliberately spread across many transfers and accounts.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1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AI's answer: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graph-based engine (DRISHTHI) links accounts by shared behaviour, timing, and transfer paths — surfacing mule rings, not just risky single transfers — validated at 93.4% precision and 95.8% recall on a 9,082-account dataset, with a human-in-the-loop step before any action is taken.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43800" y="1920240"/>
            <a:ext cx="3977640" cy="3794760"/>
          </a:xfrm>
          <a:prstGeom prst="roundRect">
            <a:avLst>
              <a:gd name="adj" fmla="val 2410"/>
            </a:avLst>
          </a:prstGeom>
          <a:solidFill>
            <a:srgbClr val="222226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TOUCH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18120" y="24871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PS-4 · Real-Time Fraud Explainer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18120" y="3246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AWAAZ turns a RAKSHAK/DRISHTHI flag into a plain-language, explainable alert delivered the moment risk crosses a threshold — not just a score in a dashboard.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Fraud Detection &amp; Financial Crime Prevention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6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modules, one mule-detection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317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RAKSHAK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35204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transaction and account in real time for mule-like behaviour using 21 engineered behavioral features.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0B0B0D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3317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331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DRISHTHI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35204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transaction graph to trace money movement across linked accounts and surface hidden mule rings.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01168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3317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331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AWAAZ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66760" y="35204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confirmed pattern into a clear, explainable alert routed to the bank's fraud desk for action.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Fraud Detection &amp; Financial Crime Prevention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RAKSHAK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“Protector”  ·  Real-time detection engine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7315200" cy="3749040"/>
          </a:xfrm>
          <a:prstGeom prst="roundRect">
            <a:avLst>
              <a:gd name="adj" fmla="val 2439"/>
            </a:avLst>
          </a:prstGeom>
          <a:solidFill>
            <a:srgbClr val="1A1A1D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615184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487168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transaction and account against mule-indicative signals: velocity, sudden inflow-outflow spikes, dormant-account reactivation, new-beneficiary bursts.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511296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38328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rules layer with a supervised ML model trained on 21 engineered behavioral features, selected from 3,924 candidate features.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279392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live risk score per account/transaction that feeds directly into DRISHTHI for network-level tracing.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2286000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301752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Stops mule behaviour at the account &amp; transaction level, before it can layer further.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Deep Dive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DRISHTHI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“Vision / Insight”  ·  Graph-based pattern tracing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7315200" cy="3749040"/>
          </a:xfrm>
          <a:prstGeom prst="roundRect">
            <a:avLst>
              <a:gd name="adj" fmla="val 2439"/>
            </a:avLst>
          </a:prstGeom>
          <a:solidFill>
            <a:srgbClr val="1A1A1D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615184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487168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transaction graph where accounts are nodes and transfers are edges, weighted by RAKSHAK's risk scores.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511296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38328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graph analysis (community/cluster detection) to find tightly-linked account clusters that move money in coordinated layering patterns.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279392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full mule ring — not a single flagged account — so investigators see the network, not a fragment of 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2286000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301752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scattered, individually-clean transfers into one visible mule ring.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Deep Dive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AWAAZ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“Voice / Alert”  ·  Explainable alerting &amp; action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7315200" cy="3749040"/>
          </a:xfrm>
          <a:prstGeom prst="roundRect">
            <a:avLst>
              <a:gd name="adj" fmla="val 2439"/>
            </a:avLst>
          </a:prstGeom>
          <a:solidFill>
            <a:srgbClr val="1A1A1D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615184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487168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confirmed cluster from DRISHTHI into a plain-language alert: which accounts, what pattern, why it was flagged.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511296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38328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the alert to the bank's fraud desk with a confidence level and the underlying evidence trail, keeping a human in the loop for the final call.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279392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 back into RAKSHAK: confirmed/rejected alerts retrain and refine future scoring.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2286000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301752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Puts a trained human in the loop before any account is frozen or reported.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Deep Dive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6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3,924 raw signals to 21 that matter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RAKSHAK's model isn't fed raw transaction logs — it's fed a distilled, high-signal feature set.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246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6060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3,924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engineered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86200" y="2377440"/>
            <a:ext cx="822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709160" y="2377440"/>
            <a:ext cx="3246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6060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32918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filtering +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ranking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0" y="2377440"/>
            <a:ext cx="822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778240" y="2377440"/>
            <a:ext cx="3063240" cy="1554480"/>
          </a:xfrm>
          <a:prstGeom prst="roundRect">
            <a:avLst>
              <a:gd name="adj" fmla="val 5882"/>
            </a:avLst>
          </a:prstGeom>
          <a:solidFill>
            <a:srgbClr val="0B0B0D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78240" y="26060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915400" y="32918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behavioral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high-signal feature set means faster inference, easier auditability for regulators, and a model less prone to overfitting on dataset-specific noise — all critical for a production fraud system.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Fraud Detection &amp; Financial Crime Prevention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concept — it's measured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A1A1D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D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93.4%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64992" y="187452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A1A1D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2011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D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56432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9904" y="187452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A1A1D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9904" y="2011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D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8134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14816" y="187452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A1A1D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14816" y="2011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D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0.9879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906256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222226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490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22960" y="4526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361188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222226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37490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9,082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26280" y="4526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Analyzed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46720" y="361188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222226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7490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 / 81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229600" y="4526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Mule Accounts Caught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394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i="1" dirty="0">
                <a:solidFill>
                  <a:srgbClr val="F1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</a:t>
            </a:r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latency benchmarking is the next validation milestone, planned ahead of production piloting. Recall figure is validated on the current labeled set (81 confirmed accounts) and will be re-checked as more accounts get confirmed.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Fraud Detection &amp; Financial Crime Prevention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6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Watching a mule ring get caught, step by step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pattern, structured to mirror what RAKSHAK + DRISHTHI + AWAAZ catch in the dataset.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0" y="219456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B0B0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Account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57400" y="2880360"/>
            <a:ext cx="4023360" cy="502920"/>
          </a:xfrm>
          <a:prstGeom prst="line">
            <a:avLst/>
          </a:prstGeom>
          <a:noFill/>
          <a:ln w="15875">
            <a:solidFill>
              <a:srgbClr val="B5B0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2880360"/>
            <a:ext cx="0" cy="502920"/>
          </a:xfrm>
          <a:prstGeom prst="line">
            <a:avLst/>
          </a:prstGeom>
          <a:noFill/>
          <a:ln w="15875">
            <a:solidFill>
              <a:srgbClr val="B5B0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04120" y="2880360"/>
            <a:ext cx="-4023360" cy="502920"/>
          </a:xfrm>
          <a:prstGeom prst="line">
            <a:avLst/>
          </a:prstGeom>
          <a:noFill/>
          <a:ln w="15875">
            <a:solidFill>
              <a:srgbClr val="B5B0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3832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A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₹4,800 transfer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37760" y="33832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B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₹4,800 transfer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61120" y="33832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C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₹4,800 transfer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057400" y="4023360"/>
            <a:ext cx="4023360" cy="594360"/>
          </a:xfrm>
          <a:prstGeom prst="line">
            <a:avLst/>
          </a:prstGeom>
          <a:noFill/>
          <a:ln w="15875">
            <a:solidFill>
              <a:srgbClr val="B5B0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4023360"/>
            <a:ext cx="0" cy="594360"/>
          </a:xfrm>
          <a:prstGeom prst="line">
            <a:avLst/>
          </a:prstGeom>
          <a:noFill/>
          <a:ln w="15875">
            <a:solidFill>
              <a:srgbClr val="B5B0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4023360"/>
            <a:ext cx="-4023360" cy="594360"/>
          </a:xfrm>
          <a:prstGeom prst="line">
            <a:avLst/>
          </a:prstGeom>
          <a:noFill/>
          <a:ln w="15875">
            <a:solidFill>
              <a:srgbClr val="B5B0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461772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B0B0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4617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52560" y="21488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F2F0EA"/>
          </a:solidFill>
          <a:ln w="12700">
            <a:solidFill>
              <a:srgbClr val="DDDA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RAKSHAK: each transfer scores LOW individually (under threshold)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37160" y="39319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2F0EA"/>
          </a:solidFill>
          <a:ln w="12700">
            <a:solidFill>
              <a:srgbClr val="DDDA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77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DRISHTHI: 3 accounts + timing pattern form one connected cluster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516636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52120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AWAAZ Alert: “Cluster of 4 accounts moved ~₹14,400 in structured sub-threshold transfers within 6 hours — flagged for review.”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Fraud Detection &amp; Financial Crime Prevention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single transaction to an actioned alert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A1A1D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07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bank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68880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52928" y="274320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222226"/>
          </a:solidFill>
          <a:ln/>
        </p:spPr>
      </p:sp>
      <p:sp>
        <p:nvSpPr>
          <p:cNvPr id="10" name="Text 8"/>
          <p:cNvSpPr/>
          <p:nvPr/>
        </p:nvSpPr>
        <p:spPr>
          <a:xfrm>
            <a:off x="2852928" y="2907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44368" y="3429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81728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65776" y="274320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A1A1D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2907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DRISHTHI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57216" y="3429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tracing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accounts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94576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278624" y="274320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222226"/>
          </a:solidFill>
          <a:ln/>
        </p:spPr>
      </p:sp>
      <p:sp>
        <p:nvSpPr>
          <p:cNvPr id="18" name="Text 16"/>
          <p:cNvSpPr/>
          <p:nvPr/>
        </p:nvSpPr>
        <p:spPr>
          <a:xfrm>
            <a:off x="7278624" y="2907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AWAAZ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70064" y="3429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07424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491472" y="274320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222226"/>
          </a:solidFill>
          <a:ln/>
        </p:spPr>
      </p:sp>
      <p:sp>
        <p:nvSpPr>
          <p:cNvPr id="22" name="Text 20"/>
          <p:cNvSpPr/>
          <p:nvPr/>
        </p:nvSpPr>
        <p:spPr>
          <a:xfrm>
            <a:off x="9491472" y="2907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82912" y="3429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 </a:t>
            </a:r>
            <a:pPr indent="0" marL="0"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and rejected alerts from the Fraud Desk flow back into RAKSHAK to continuously refine risk scoring.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mul-net-e1h2.vercel.app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Fraud Detection &amp; Financial Crime Prevention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6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DETAILS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financial transaction dataset: 9,082 accounts, 81 confirmed mule accounts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389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3,924 raw features engineered, narrowed to 21 core behavioral signals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96596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for hard mule-account indicators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4389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 classifier for behavioural risk scoring (RAKSHAK)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96596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Layer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graph construction across accounts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4389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/ community detection to trace mule rings (DRISHTHI)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06840" y="196596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35440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3544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35440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app for the fraud-desk dashboard (AWAAZ alerts)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35440" y="4389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prototype for live demo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Fraud Detection &amp; Financial Crime Prevention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MULENET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pattern, not the transaction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FRAUD TOOLS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1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22222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77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one transaction at a 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237744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3774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the full mule ring across accounts (DRISHTHI graph)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22222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37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risk score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337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337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evidence-backed alert (AWAAZ) at 93.4% precision, 95.8% recall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22222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97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 thresholds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429768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4297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retrains RAKSHAK from investigator decisions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22222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57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stops at flagging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525780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5257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detect → trace → alert → human action, validated on 9,082 real accounts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Fraud Detection &amp; Financial Crime Prevention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6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a bank-ready deployment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integration layer that sits alongside existing core banking / fraud systems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rip-and-replace: RAKSHAK scores feed into the bank's existing alerting workflow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194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pricing tied to transaction volume screened, not flat licensing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17720" y="38862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upfront cost fits PSBs and regional/rural banks with tighter IT budgets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194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7432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 &amp; regional banks first, where mule-account exposure is highest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21040" y="38862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NBFCs and payment aggregators as the graph model matures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440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UPI network hit its highest-ever monthly volume of 23.66 billion transactions in July 2026 — a scale where even a small mule-fraud rate translates into large absolute losses, and where a lightweight, precise detection layer has outsized impact.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Fraud Detection &amp; Financial Crime Prevention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protects, and where it goes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1A1A1D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&amp; PSBs —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mule-ring detection, fewer manual investigation hours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customers —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false-positive account freezes, since scoring is network-aware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/ DFS —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auditable, explainable trail for every flagged network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303520" cy="3749040"/>
          </a:xfrm>
          <a:prstGeom prst="roundRect">
            <a:avLst>
              <a:gd name="adj" fmla="val 2439"/>
            </a:avLst>
          </a:prstGeom>
          <a:solidFill>
            <a:srgbClr val="1A1A1D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92240" y="2816352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67004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recall and real-time inference latency ahead of piloting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3547872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340156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DRISHTHI's graph model to cross-bank account linking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92240" y="4279392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413308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temporal pattern detection for slow, low-and-slow layering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5010912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486460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AWAAZ alerts with a live fraud-desk workflow integration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Fraud Detection &amp; Financial Crime Prevention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MuleNet AI  |  YEL x IGDTUW  Build &amp; Bank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MuleNet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58368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1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the network, not just the transaction.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310896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794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A1A1D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886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D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93.4%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88920" y="3794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A1A1D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3886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D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95.8%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88920" y="4297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37760" y="3794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A1A1D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886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D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4297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86600" y="3794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A1A1D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3886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D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86600" y="4297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Bit Brains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Gulshan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mul-net-e1h2.vercel.app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080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2026-08-28T19:11:48Z</dcterms:created>
  <dcterms:modified xsi:type="dcterms:W3CDTF">2026-08-28T19:11:48Z</dcterms:modified>
</cp:coreProperties>
</file>